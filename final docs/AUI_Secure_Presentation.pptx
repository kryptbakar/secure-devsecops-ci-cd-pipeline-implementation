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22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Shape 49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Shape 54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Shape 55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Shape 57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>
            <a:off x="2286000" y="777240"/>
            <a:ext cx="4572000" cy="2926080"/>
          </a:xfrm>
          <a:prstGeom prst="ellipse">
            <a:avLst/>
          </a:prstGeom>
          <a:solidFill>
            <a:srgbClr val="00204A">
              <a:alpha val="60000"/>
            </a:srgbClr>
          </a:solidFill>
          <a:ln w="12700">
            <a:solidFill>
              <a:srgbClr val="0020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SOFTWARE DESIGN WITH SECURE CODING IMPLEMENTATION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57200" y="621792"/>
            <a:ext cx="8229600" cy="1234440"/>
          </a:xfrm>
          <a:prstGeom prst="rect">
            <a:avLst/>
          </a:prstGeom>
          <a:noFill/>
          <a:ln/>
          <a:effectLst>
            <a:outerShdw blurRad="254000" dist="50800" dir="16200000" algn="bl" rotWithShape="0">
              <a:srgbClr val="00D4FF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AUI SECURE</a:t>
            </a:r>
            <a:endParaRPr lang="en-US" sz="7200" dirty="0"/>
          </a:p>
        </p:txBody>
      </p:sp>
      <p:sp>
        <p:nvSpPr>
          <p:cNvPr id="64" name="Text 62"/>
          <p:cNvSpPr/>
          <p:nvPr/>
        </p:nvSpPr>
        <p:spPr>
          <a:xfrm>
            <a:off x="457200" y="19019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DevSecOps Security Education Platform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4160520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6" name="Shape 64"/>
          <p:cNvSpPr/>
          <p:nvPr/>
        </p:nvSpPr>
        <p:spPr>
          <a:xfrm>
            <a:off x="4361688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7" name="Shape 65"/>
          <p:cNvSpPr/>
          <p:nvPr/>
        </p:nvSpPr>
        <p:spPr>
          <a:xfrm>
            <a:off x="4562856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Shape 66"/>
          <p:cNvSpPr/>
          <p:nvPr/>
        </p:nvSpPr>
        <p:spPr>
          <a:xfrm>
            <a:off x="4764024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9" name="Shape 67"/>
          <p:cNvSpPr/>
          <p:nvPr/>
        </p:nvSpPr>
        <p:spPr>
          <a:xfrm>
            <a:off x="4965192" y="2487168"/>
            <a:ext cx="73152" cy="73152"/>
          </a:xfrm>
          <a:prstGeom prst="ellipse">
            <a:avLst/>
          </a:prstGeom>
          <a:solidFill>
            <a:srgbClr val="007799"/>
          </a:solidFill>
          <a:ln w="12700">
            <a:solidFill>
              <a:srgbClr val="0077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Shape 68"/>
          <p:cNvSpPr/>
          <p:nvPr/>
        </p:nvSpPr>
        <p:spPr>
          <a:xfrm>
            <a:off x="141732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D4FF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1" name="Text 69"/>
          <p:cNvSpPr/>
          <p:nvPr/>
        </p:nvSpPr>
        <p:spPr>
          <a:xfrm>
            <a:off x="14173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Live Labs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70332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  <a:effectLst>
            <a:outerShdw blurRad="127000" dist="50800" dir="16200000" algn="bl" rotWithShape="0">
              <a:srgbClr val="00FF88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3" name="Text 71"/>
          <p:cNvSpPr/>
          <p:nvPr/>
        </p:nvSpPr>
        <p:spPr>
          <a:xfrm>
            <a:off x="37033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98932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  <a:effectLst>
            <a:outerShdw blurRad="127000" dist="50800" dir="16200000" algn="bl" rotWithShape="0">
              <a:srgbClr val="FF95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5" name="Text 73"/>
          <p:cNvSpPr/>
          <p:nvPr/>
        </p:nvSpPr>
        <p:spPr>
          <a:xfrm>
            <a:off x="59893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CI/CD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Flask · SQLite · GitHub Actions · OWASP ZAP · Bandit · gitleaks · pip-audit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4832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3657600" cy="0"/>
          </a:xfrm>
          <a:prstGeom prst="line">
            <a:avLst/>
          </a:prstGeom>
          <a:noFill/>
          <a:ln w="254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93192" y="987552"/>
            <a:ext cx="40233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320040" y="914400"/>
            <a:ext cx="4023360" cy="3657600"/>
          </a:xfrm>
          <a:prstGeom prst="rect">
            <a:avLst/>
          </a:prstGeom>
          <a:solidFill>
            <a:srgbClr val="0E1627"/>
          </a:solidFill>
          <a:ln w="12700">
            <a:solidFill>
              <a:srgbClr val="3A1525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20040" y="914400"/>
            <a:ext cx="64008" cy="3657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broken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" y="148132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75488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14447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bolted on AFTER development — too late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" y="207568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75488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20391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vulnerabilities still widespread in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267004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5488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26334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don't understand attacks they've never seen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" y="326440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475488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" y="32278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slides don't build real security intuition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" y="3858768"/>
            <a:ext cx="256032" cy="256032"/>
          </a:xfrm>
          <a:prstGeom prst="ellipse">
            <a:avLst/>
          </a:prstGeom>
          <a:solidFill>
            <a:srgbClr val="881122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75488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" y="38221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rarely include automated security checks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73752" y="987552"/>
            <a:ext cx="40233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4800600" y="914400"/>
            <a:ext cx="4023360" cy="3657600"/>
          </a:xfrm>
          <a:prstGeom prst="rect">
            <a:avLst/>
          </a:prstGeom>
          <a:solidFill>
            <a:srgbClr val="111D34"/>
          </a:solidFill>
          <a:ln w="12700">
            <a:solidFill>
              <a:srgbClr val="005577"/>
            </a:solidFill>
            <a:prstDash val="solid"/>
          </a:ln>
          <a:effectLst>
            <a:outerShdw blurRad="254000" dist="50800" dir="16200000" algn="bl" rotWithShape="0">
              <a:srgbClr val="00D4FF">
                <a:alpha val="4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4800600" y="914400"/>
            <a:ext cx="64008" cy="3657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49834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983480" y="1371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AUI Secure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4983480" y="1956816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49834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30952" y="1920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in real-time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83480" y="2487168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498348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30952" y="24505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with live code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83480" y="301752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498348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30952" y="298094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hands-on security labs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983480" y="3547872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498348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30952" y="3511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OWASP Top 10 coverage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83480" y="4078224"/>
            <a:ext cx="256032" cy="256032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498348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30952" y="4041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5-stage CI/CD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AUI SECURE?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347472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65760" y="80467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dual-layer DevSecOps project: a fully-functional secure web application paired with an automated security CI/CD pipeline.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" y="1627632"/>
            <a:ext cx="493776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20040" y="1554480"/>
            <a:ext cx="4937760" cy="100584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20040" y="1554480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0292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8 Interactive Security Labs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19385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 Password Hashing, CSRF, Rate Limiting, Account Lockout, Security Headers, Audit Trail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" y="2743200"/>
            <a:ext cx="493776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320040" y="2670048"/>
            <a:ext cx="4937760" cy="100584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20040" y="2670048"/>
            <a:ext cx="64008" cy="10058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50292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Attack &amp; Defend Side-by-Side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0540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has a vulnerable endpoint AND a secure endpoint — see exactly what changes and why it matters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" y="3858768"/>
            <a:ext cx="493776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320040" y="3785616"/>
            <a:ext cx="4937760" cy="100584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320040" y="3785616"/>
            <a:ext cx="64008" cy="10058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02920" y="3858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Dark Security Dashboard SPA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696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JS dependencies, vanilla JS, single CSP nonce-script block, zero npm supply-chain risk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50992" y="859536"/>
            <a:ext cx="3246120" cy="37856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5577840" y="786384"/>
            <a:ext cx="3246120" cy="3785616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5715000" y="896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87568" y="1298448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5824728" y="1280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+ Flask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24728" y="1453896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+ routing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87568" y="1700784"/>
            <a:ext cx="54864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5824728" y="16824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24728" y="185623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87568" y="2103120"/>
            <a:ext cx="54864" cy="2286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5824728" y="20848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scrypt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24728" y="225856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password hashing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87568" y="2505456"/>
            <a:ext cx="54864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5824728" y="2487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824728" y="2660904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middleware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87568" y="2907792"/>
            <a:ext cx="54864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5824728" y="2889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24728" y="306324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CI/CD pipeline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87568" y="3310128"/>
            <a:ext cx="54864" cy="228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5824728" y="3291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824728" y="3465576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scanning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87568" y="3712464"/>
            <a:ext cx="54864" cy="2286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5824728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+ gitleaks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24728" y="386791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secret scanning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87568" y="4114800"/>
            <a:ext cx="54864" cy="228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5824728" y="4096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824728" y="4270248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+ auto-remediation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41148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 rot="16200000">
            <a:off x="109728" y="768096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LAYER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75488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48640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58568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2185416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2258568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68496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895344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968496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78424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5605272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5678424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@requires_role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88352" y="841248"/>
            <a:ext cx="1517904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7315200" y="768096"/>
            <a:ext cx="1517904" cy="804672"/>
          </a:xfrm>
          <a:prstGeom prst="rect">
            <a:avLst/>
          </a:prstGeom>
          <a:solidFill>
            <a:srgbClr val="071A10"/>
          </a:solidFill>
          <a:ln w="12700">
            <a:solidFill>
              <a:srgbClr val="00884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7388352" y="80467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log_action()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5528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2505456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4215384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5925312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7635240" y="1591056"/>
            <a:ext cx="0" cy="320040"/>
          </a:xfrm>
          <a:prstGeom prst="line">
            <a:avLst/>
          </a:prstGeom>
          <a:noFill/>
          <a:ln w="12700">
            <a:solidFill>
              <a:srgbClr val="008844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 rot="16200000">
            <a:off x="109728" y="1901952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LAYER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48640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475488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548640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58568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2185416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2258568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968496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3895344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3968496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labs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78424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5605272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5678424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CRUD+SQLi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88352" y="1993392"/>
            <a:ext cx="1517904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Shape 54"/>
          <p:cNvSpPr/>
          <p:nvPr/>
        </p:nvSpPr>
        <p:spPr>
          <a:xfrm>
            <a:off x="7315200" y="1920240"/>
            <a:ext cx="1517904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5577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7388352" y="1947672"/>
            <a:ext cx="1389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5528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59" name="Shape 57"/>
          <p:cNvSpPr/>
          <p:nvPr/>
        </p:nvSpPr>
        <p:spPr>
          <a:xfrm>
            <a:off x="2505456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4215384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>
            <a:off x="5925312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62" name="Shape 60"/>
          <p:cNvSpPr/>
          <p:nvPr/>
        </p:nvSpPr>
        <p:spPr>
          <a:xfrm>
            <a:off x="7635240" y="2761488"/>
            <a:ext cx="0" cy="320040"/>
          </a:xfrm>
          <a:prstGeom prst="line">
            <a:avLst/>
          </a:prstGeom>
          <a:noFill/>
          <a:ln w="12700">
            <a:solidFill>
              <a:srgbClr val="005577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63" name="Text 61"/>
          <p:cNvSpPr/>
          <p:nvPr/>
        </p:nvSpPr>
        <p:spPr>
          <a:xfrm rot="16200000">
            <a:off x="109728" y="3072384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LAYER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48640" y="3163824"/>
            <a:ext cx="201168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Shape 63"/>
          <p:cNvSpPr/>
          <p:nvPr/>
        </p:nvSpPr>
        <p:spPr>
          <a:xfrm>
            <a:off x="475488" y="3090672"/>
            <a:ext cx="201168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6" name="Text 64"/>
          <p:cNvSpPr/>
          <p:nvPr/>
        </p:nvSpPr>
        <p:spPr>
          <a:xfrm>
            <a:off x="566928" y="310896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DB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16352" y="3163824"/>
            <a:ext cx="201168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Shape 66"/>
          <p:cNvSpPr/>
          <p:nvPr/>
        </p:nvSpPr>
        <p:spPr>
          <a:xfrm>
            <a:off x="2743200" y="3090672"/>
            <a:ext cx="201168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9" name="Text 67"/>
          <p:cNvSpPr/>
          <p:nvPr/>
        </p:nvSpPr>
        <p:spPr>
          <a:xfrm>
            <a:off x="2834640" y="310896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84064" y="3163824"/>
            <a:ext cx="201168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1" name="Shape 69"/>
          <p:cNvSpPr/>
          <p:nvPr/>
        </p:nvSpPr>
        <p:spPr>
          <a:xfrm>
            <a:off x="5010912" y="3090672"/>
            <a:ext cx="201168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2" name="Text 70"/>
          <p:cNvSpPr/>
          <p:nvPr/>
        </p:nvSpPr>
        <p:spPr>
          <a:xfrm>
            <a:off x="5102352" y="310896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351776" y="3163824"/>
            <a:ext cx="196596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4" name="Shape 72"/>
          <p:cNvSpPr/>
          <p:nvPr/>
        </p:nvSpPr>
        <p:spPr>
          <a:xfrm>
            <a:off x="7278624" y="3090672"/>
            <a:ext cx="1965960" cy="777240"/>
          </a:xfrm>
          <a:prstGeom prst="rect">
            <a:avLst/>
          </a:prstGeom>
          <a:solidFill>
            <a:srgbClr val="1A1200"/>
          </a:solidFill>
          <a:ln w="12700">
            <a:solidFill>
              <a:srgbClr val="3A2A00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5" name="Text 73"/>
          <p:cNvSpPr/>
          <p:nvPr/>
        </p:nvSpPr>
        <p:spPr>
          <a:xfrm>
            <a:off x="7370064" y="3108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+bleach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20040" y="4005072"/>
            <a:ext cx="8503920" cy="658368"/>
          </a:xfrm>
          <a:prstGeom prst="rect">
            <a:avLst/>
          </a:prstGeom>
          <a:solidFill>
            <a:srgbClr val="0A0020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Text 75"/>
          <p:cNvSpPr/>
          <p:nvPr/>
        </p:nvSpPr>
        <p:spPr>
          <a:xfrm>
            <a:off x="457200" y="4087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PIPELINE  -&gt;  pytest  -&gt;  gitleaks  -&gt;  Bandit SAST  -&gt;  pip-audit SCA  -&gt;  OWASP ZAP DAST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SECURITY LABS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coverage — attack and defend in real-time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93192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Shape 49"/>
          <p:cNvSpPr/>
          <p:nvPr/>
        </p:nvSpPr>
        <p:spPr>
          <a:xfrm>
            <a:off x="320040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320040" y="896112"/>
            <a:ext cx="199339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29768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14400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48056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' OR 1=1 --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queries vs f-string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SQL generated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14600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Shape 55"/>
          <p:cNvSpPr/>
          <p:nvPr/>
        </p:nvSpPr>
        <p:spPr>
          <a:xfrm>
            <a:off x="2441448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2441448" y="896112"/>
            <a:ext cx="199339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2551176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3035808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569464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&lt;script&gt;alert()&lt;/script&gt;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bleach + html.escape()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 allowlist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36008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3" name="Shape 61"/>
          <p:cNvSpPr/>
          <p:nvPr/>
        </p:nvSpPr>
        <p:spPr>
          <a:xfrm>
            <a:off x="4562856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4" name="Shape 62"/>
          <p:cNvSpPr/>
          <p:nvPr/>
        </p:nvSpPr>
        <p:spPr>
          <a:xfrm>
            <a:off x="4562856" y="896112"/>
            <a:ext cx="1993392" cy="7315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4672584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5157216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690872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salted hashes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 hash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meter live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757416" y="969264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9" name="Shape 67"/>
          <p:cNvSpPr/>
          <p:nvPr/>
        </p:nvSpPr>
        <p:spPr>
          <a:xfrm>
            <a:off x="6684264" y="896112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0" name="Shape 68"/>
          <p:cNvSpPr/>
          <p:nvPr/>
        </p:nvSpPr>
        <p:spPr>
          <a:xfrm>
            <a:off x="6684264" y="896112"/>
            <a:ext cx="1993392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1" name="Text 69"/>
          <p:cNvSpPr/>
          <p:nvPr/>
        </p:nvSpPr>
        <p:spPr>
          <a:xfrm>
            <a:off x="6793992" y="1024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278624" y="1042416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812280" y="1499616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HTTP headers shown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HSTS, X-Frame-Options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ratings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93192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5" name="Shape 73"/>
          <p:cNvSpPr/>
          <p:nvPr/>
        </p:nvSpPr>
        <p:spPr>
          <a:xfrm>
            <a:off x="320040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6" name="Shape 74"/>
          <p:cNvSpPr/>
          <p:nvPr/>
        </p:nvSpPr>
        <p:spPr>
          <a:xfrm>
            <a:off x="320040" y="2715768"/>
            <a:ext cx="1993392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Text 75"/>
          <p:cNvSpPr/>
          <p:nvPr/>
        </p:nvSpPr>
        <p:spPr>
          <a:xfrm>
            <a:off x="429768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914400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48056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form demo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cookies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Timing-safe token compare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514600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1" name="Shape 79"/>
          <p:cNvSpPr/>
          <p:nvPr/>
        </p:nvSpPr>
        <p:spPr>
          <a:xfrm>
            <a:off x="2441448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2" name="Shape 80"/>
          <p:cNvSpPr/>
          <p:nvPr/>
        </p:nvSpPr>
        <p:spPr>
          <a:xfrm>
            <a:off x="2441448" y="2715768"/>
            <a:ext cx="199339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3" name="Text 81"/>
          <p:cNvSpPr/>
          <p:nvPr/>
        </p:nvSpPr>
        <p:spPr>
          <a:xfrm>
            <a:off x="2551176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84" name="Text 82"/>
          <p:cNvSpPr/>
          <p:nvPr/>
        </p:nvSpPr>
        <p:spPr>
          <a:xfrm>
            <a:off x="3035808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2569464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 the endpoint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200 -&gt; 429 responses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counter on screen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636008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7" name="Shape 85"/>
          <p:cNvSpPr/>
          <p:nvPr/>
        </p:nvSpPr>
        <p:spPr>
          <a:xfrm>
            <a:off x="4562856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8" name="Shape 86"/>
          <p:cNvSpPr/>
          <p:nvPr/>
        </p:nvSpPr>
        <p:spPr>
          <a:xfrm>
            <a:off x="4562856" y="2715768"/>
            <a:ext cx="1993392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9" name="Text 87"/>
          <p:cNvSpPr/>
          <p:nvPr/>
        </p:nvSpPr>
        <p:spPr>
          <a:xfrm>
            <a:off x="4672584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5157216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4690872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demo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24h lockout shown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757416" y="2788920"/>
            <a:ext cx="1993392" cy="16824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3" name="Shape 91"/>
          <p:cNvSpPr/>
          <p:nvPr/>
        </p:nvSpPr>
        <p:spPr>
          <a:xfrm>
            <a:off x="6684264" y="2715768"/>
            <a:ext cx="1993392" cy="168249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4" name="Shape 92"/>
          <p:cNvSpPr/>
          <p:nvPr/>
        </p:nvSpPr>
        <p:spPr>
          <a:xfrm>
            <a:off x="6684264" y="2715768"/>
            <a:ext cx="1993392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5" name="Text 93"/>
          <p:cNvSpPr/>
          <p:nvPr/>
        </p:nvSpPr>
        <p:spPr>
          <a:xfrm>
            <a:off x="6793992" y="2843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6" name="Text 94"/>
          <p:cNvSpPr/>
          <p:nvPr/>
        </p:nvSpPr>
        <p:spPr>
          <a:xfrm>
            <a:off x="7278624" y="2862072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6812280" y="3319272"/>
            <a:ext cx="1773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user, timestamp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live feed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MECHANISMS DEEP DIVE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5029200" cy="0"/>
          </a:xfrm>
          <a:prstGeom prst="line">
            <a:avLst/>
          </a:prstGeom>
          <a:noFill/>
          <a:ln w="254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93192" y="841248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320040" y="768096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20040" y="768096"/>
            <a:ext cx="64008" cy="14813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84632" y="859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12618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67512" y="12252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scrypt — memory-hard hashing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149961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67512" y="146304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rotation on every login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667512" y="170078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SameSite=Lax cookies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197510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67512" y="19385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session lifetime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37560" y="841248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3264408" y="768096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3264408" y="768096"/>
            <a:ext cx="64008" cy="148132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429000" y="859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47288" y="1261872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611880" y="12252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@requires_auth decorator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47288" y="1499616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3611880" y="146304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@requires_role('admin') decorator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47288" y="1737360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3611880" y="170078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role system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47288" y="1975104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3611880" y="19385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Bearer token auth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81928" y="841248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6208776" y="768096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6208776" y="768096"/>
            <a:ext cx="64008" cy="148132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6373368" y="859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91656" y="1261872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6556248" y="12252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backoff: base x 2^n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91656" y="1499616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6556248" y="146304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lockout duration: 24 hours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91656" y="1737360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6556248" y="170078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delay up to 5s/attempt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91656" y="1975104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6556248" y="19385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state stored in DB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93192" y="2468880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320040" y="2395728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9" name="Shape 57"/>
          <p:cNvSpPr/>
          <p:nvPr/>
        </p:nvSpPr>
        <p:spPr>
          <a:xfrm>
            <a:off x="320040" y="2395728"/>
            <a:ext cx="64008" cy="148132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484632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" y="2889504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667512" y="28529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regex policy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2920" y="3127248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/>
          <p:nvPr/>
        </p:nvSpPr>
        <p:spPr>
          <a:xfrm>
            <a:off x="667512" y="30906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bleach HTML tag stripping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3364992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6" name="Text 64"/>
          <p:cNvSpPr/>
          <p:nvPr/>
        </p:nvSpPr>
        <p:spPr>
          <a:xfrm>
            <a:off x="667512" y="33284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html.escape() entity encoding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920" y="3602736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667512" y="35661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Null-byte removal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337560" y="2468880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Shape 68"/>
          <p:cNvSpPr/>
          <p:nvPr/>
        </p:nvSpPr>
        <p:spPr>
          <a:xfrm>
            <a:off x="3264408" y="2395728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1" name="Shape 69"/>
          <p:cNvSpPr/>
          <p:nvPr/>
        </p:nvSpPr>
        <p:spPr>
          <a:xfrm>
            <a:off x="3264408" y="2395728"/>
            <a:ext cx="64008" cy="148132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2" name="Text 70"/>
          <p:cNvSpPr/>
          <p:nvPr/>
        </p:nvSpPr>
        <p:spPr>
          <a:xfrm>
            <a:off x="3429000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447288" y="2889504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4" name="Text 72"/>
          <p:cNvSpPr/>
          <p:nvPr/>
        </p:nvSpPr>
        <p:spPr>
          <a:xfrm>
            <a:off x="3611880" y="28529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 everywhere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447288" y="3127248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6" name="Text 74"/>
          <p:cNvSpPr/>
          <p:nvPr/>
        </p:nvSpPr>
        <p:spPr>
          <a:xfrm>
            <a:off x="3611880" y="30906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db.execute(sql, (param,)) pattern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447288" y="3364992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8" name="Text 76"/>
          <p:cNvSpPr/>
          <p:nvPr/>
        </p:nvSpPr>
        <p:spPr>
          <a:xfrm>
            <a:off x="3611880" y="33284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endpoints for live comparison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447288" y="3602736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0" name="Text 78"/>
          <p:cNvSpPr/>
          <p:nvPr/>
        </p:nvSpPr>
        <p:spPr>
          <a:xfrm>
            <a:off x="3611880" y="35661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f-string SQL anywhere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81928" y="2468880"/>
            <a:ext cx="2743200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2" name="Shape 80"/>
          <p:cNvSpPr/>
          <p:nvPr/>
        </p:nvSpPr>
        <p:spPr>
          <a:xfrm>
            <a:off x="6208776" y="2395728"/>
            <a:ext cx="2743200" cy="1481328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3" name="Shape 81"/>
          <p:cNvSpPr/>
          <p:nvPr/>
        </p:nvSpPr>
        <p:spPr>
          <a:xfrm>
            <a:off x="6208776" y="2395728"/>
            <a:ext cx="64008" cy="148132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4" name="Text 82"/>
          <p:cNvSpPr/>
          <p:nvPr/>
        </p:nvSpPr>
        <p:spPr>
          <a:xfrm>
            <a:off x="6373368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Defence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391656" y="2889504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6" name="Text 84"/>
          <p:cNvSpPr/>
          <p:nvPr/>
        </p:nvSpPr>
        <p:spPr>
          <a:xfrm>
            <a:off x="6556248" y="285292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bleach strips all HTML tags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391656" y="3127248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8" name="Text 86"/>
          <p:cNvSpPr/>
          <p:nvPr/>
        </p:nvSpPr>
        <p:spPr>
          <a:xfrm>
            <a:off x="6556248" y="30906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html.escape() encodes all entities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391656" y="3364992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0" name="Text 88"/>
          <p:cNvSpPr/>
          <p:nvPr/>
        </p:nvSpPr>
        <p:spPr>
          <a:xfrm>
            <a:off x="6556248" y="332841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nonce-based script allowlist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391656" y="3602736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2" name="Text 90"/>
          <p:cNvSpPr/>
          <p:nvPr/>
        </p:nvSpPr>
        <p:spPr>
          <a:xfrm>
            <a:off x="6556248" y="35661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inline event handlers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SECURITY PIPELINE — 5-STAGE GAUNTLET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git push triggers automated security checks — zero manual intervention required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2064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Shape 49"/>
          <p:cNvSpPr/>
          <p:nvPr/>
        </p:nvSpPr>
        <p:spPr>
          <a:xfrm>
            <a:off x="438912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438912" y="960120"/>
            <a:ext cx="1572768" cy="2926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38912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0352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566928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0352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020824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59" name="Shape 57"/>
          <p:cNvSpPr/>
          <p:nvPr/>
        </p:nvSpPr>
        <p:spPr>
          <a:xfrm>
            <a:off x="2185416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2112264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>
            <a:off x="2112264" y="960120"/>
            <a:ext cx="1572768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2112264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2203704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240280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2240280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gitleaks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203704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hardcoded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94176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68" name="Shape 66"/>
          <p:cNvSpPr/>
          <p:nvPr/>
        </p:nvSpPr>
        <p:spPr>
          <a:xfrm>
            <a:off x="3858768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9" name="Shape 67"/>
          <p:cNvSpPr/>
          <p:nvPr/>
        </p:nvSpPr>
        <p:spPr>
          <a:xfrm>
            <a:off x="3785616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0" name="Shape 68"/>
          <p:cNvSpPr/>
          <p:nvPr/>
        </p:nvSpPr>
        <p:spPr>
          <a:xfrm>
            <a:off x="3785616" y="960120"/>
            <a:ext cx="1572768" cy="2926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1" name="Text 69"/>
          <p:cNvSpPr/>
          <p:nvPr/>
        </p:nvSpPr>
        <p:spPr>
          <a:xfrm>
            <a:off x="3785616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3877056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3913632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4" name="Text 72"/>
          <p:cNvSpPr/>
          <p:nvPr/>
        </p:nvSpPr>
        <p:spPr>
          <a:xfrm>
            <a:off x="3913632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Bandit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877056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367528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77" name="Shape 75"/>
          <p:cNvSpPr/>
          <p:nvPr/>
        </p:nvSpPr>
        <p:spPr>
          <a:xfrm>
            <a:off x="5532120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8" name="Shape 76"/>
          <p:cNvSpPr/>
          <p:nvPr/>
        </p:nvSpPr>
        <p:spPr>
          <a:xfrm>
            <a:off x="5458968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9" name="Shape 77"/>
          <p:cNvSpPr/>
          <p:nvPr/>
        </p:nvSpPr>
        <p:spPr>
          <a:xfrm>
            <a:off x="5458968" y="960120"/>
            <a:ext cx="1572768" cy="2926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0" name="Text 78"/>
          <p:cNvSpPr/>
          <p:nvPr/>
        </p:nvSpPr>
        <p:spPr>
          <a:xfrm>
            <a:off x="5458968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550408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586984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3" name="Text 81"/>
          <p:cNvSpPr/>
          <p:nvPr/>
        </p:nvSpPr>
        <p:spPr>
          <a:xfrm>
            <a:off x="5586984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pip-audit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remediate.py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550408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 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deps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040880" y="2171700"/>
            <a:ext cx="118872" cy="0"/>
          </a:xfrm>
          <a:prstGeom prst="line">
            <a:avLst/>
          </a:prstGeom>
          <a:noFill/>
          <a:ln w="19050">
            <a:solidFill>
              <a:srgbClr val="007799"/>
            </a:solidFill>
            <a:prstDash val="solid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86" name="Shape 84"/>
          <p:cNvSpPr/>
          <p:nvPr/>
        </p:nvSpPr>
        <p:spPr>
          <a:xfrm>
            <a:off x="7205472" y="1033272"/>
            <a:ext cx="1572768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7" name="Shape 85"/>
          <p:cNvSpPr/>
          <p:nvPr/>
        </p:nvSpPr>
        <p:spPr>
          <a:xfrm>
            <a:off x="7132320" y="960120"/>
            <a:ext cx="1572768" cy="242316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8" name="Shape 86"/>
          <p:cNvSpPr/>
          <p:nvPr/>
        </p:nvSpPr>
        <p:spPr>
          <a:xfrm>
            <a:off x="7132320" y="960120"/>
            <a:ext cx="157276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9" name="Text 87"/>
          <p:cNvSpPr/>
          <p:nvPr/>
        </p:nvSpPr>
        <p:spPr>
          <a:xfrm>
            <a:off x="7132320" y="9601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7223760" y="129844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7260336" y="2002536"/>
            <a:ext cx="1316736" cy="384048"/>
          </a:xfrm>
          <a:prstGeom prst="rect">
            <a:avLst/>
          </a:prstGeom>
          <a:solidFill>
            <a:srgbClr val="0C142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2" name="Text 90"/>
          <p:cNvSpPr/>
          <p:nvPr/>
        </p:nvSpPr>
        <p:spPr>
          <a:xfrm>
            <a:off x="7260336" y="20025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ZAP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223760" y="246888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scan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719072" y="3621024"/>
            <a:ext cx="5852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5" name="Shape 93"/>
          <p:cNvSpPr/>
          <p:nvPr/>
        </p:nvSpPr>
        <p:spPr>
          <a:xfrm>
            <a:off x="1645920" y="3547872"/>
            <a:ext cx="5852160" cy="640080"/>
          </a:xfrm>
          <a:prstGeom prst="rect">
            <a:avLst/>
          </a:prstGeom>
          <a:solidFill>
            <a:srgbClr val="0A0020"/>
          </a:solidFill>
          <a:ln w="12700">
            <a:solidFill>
              <a:srgbClr val="9B59B6"/>
            </a:solidFill>
            <a:prstDash val="solid"/>
          </a:ln>
          <a:effectLst>
            <a:outerShdw blurRad="254000" dist="50800" dir="16200000" algn="bl" rotWithShape="0">
              <a:srgbClr val="9B59B6">
                <a:alpha val="4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6" name="Text 94"/>
          <p:cNvSpPr/>
          <p:nvPr/>
        </p:nvSpPr>
        <p:spPr>
          <a:xfrm>
            <a:off x="1828800" y="3602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AUTO-REMEDIATION: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114800" y="36027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finds vuln deps  -&gt;  remediate.py patches requirements.txt  -&gt;  opens GitHub PR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PRE-COMMIT HOOKS — SHIFT LEFT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4572000" cy="0"/>
          </a:xfrm>
          <a:prstGeom prst="line">
            <a:avLst/>
          </a:prstGeom>
          <a:noFill/>
          <a:ln w="254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5720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checks as CI/CD — caught at the developer's workstation before anything reaches GitHub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" y="1060704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20040" y="987552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20040" y="987552"/>
            <a:ext cx="64008" cy="6766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502920" y="1124712"/>
            <a:ext cx="1078992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02920" y="112471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1060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Formatting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131673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consistent code style. Fails the commit if formatting is off — fixes applied automatically.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" y="1828800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20040" y="1755648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320040" y="1755648"/>
            <a:ext cx="64008" cy="67665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502920" y="1892808"/>
            <a:ext cx="1078992" cy="34747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502920" y="18928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91640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91640" y="208483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security analysis. Flags dangerous patterns: shell injection, hardcoded secrets, insecure hash algorithms.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" y="2596896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320040" y="2523744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320040" y="2523744"/>
            <a:ext cx="64008" cy="67665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502920" y="2660904"/>
            <a:ext cx="1078992" cy="3474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502920" y="266090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pip-audit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91640" y="2596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91640" y="285292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dependencies against NVD CVE database. Blocks commits with known-vulnerable packages.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3192" y="3364992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320040" y="3291840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320040" y="3291840"/>
            <a:ext cx="64008" cy="6766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502920" y="3429000"/>
            <a:ext cx="1078992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502920" y="34290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gitleaks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691640" y="3364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Detection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91640" y="3621024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git history and staged changes for API keys, tokens, passwords. Blocks before they leave the machine.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93192" y="4133088"/>
            <a:ext cx="850392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Shape 49"/>
          <p:cNvSpPr/>
          <p:nvPr/>
        </p:nvSpPr>
        <p:spPr>
          <a:xfrm>
            <a:off x="320040" y="4059936"/>
            <a:ext cx="8503920" cy="676656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320040" y="4059936"/>
            <a:ext cx="64008" cy="67665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502920" y="4197096"/>
            <a:ext cx="1078992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502920" y="419709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hygiene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691640" y="4133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Hygiene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91640" y="438912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YAML/JSON validity, merge conflict markers, private key file detection, large binary files.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 -&gt;  black ok  -&gt;  bandit ok  -&gt;  pip-audit ok  -&gt;  gitleaks ok  -&gt;  All checks passed.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TOP 10 COVERAGE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4114800" cy="0"/>
          </a:xfrm>
          <a:prstGeom prst="line">
            <a:avLst/>
          </a:prstGeom>
          <a:noFill/>
          <a:ln w="254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20040" y="713232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320040" y="713232"/>
            <a:ext cx="566928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320040" y="7132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7406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0" y="74066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RBAC + @requires_role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87368" y="74066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1161288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320040" y="1161288"/>
            <a:ext cx="566928" cy="40233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320040" y="116128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118872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scrypt, HttpOnly cookies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87368" y="1188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1609344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320040" y="1609344"/>
            <a:ext cx="566928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320040" y="160934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60120" y="1636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 Injection)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0" y="1636776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Parameterised queries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87368" y="163677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2057400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320040" y="2057400"/>
            <a:ext cx="566928" cy="40233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320040" y="20574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60120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0" y="2084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SECURE_MODE gating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87368" y="208483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505456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320040" y="2505456"/>
            <a:ext cx="566928" cy="40233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320040" y="250545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" y="2532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43200" y="253288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Security headers, CSP nonce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87368" y="253288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713232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4709160" y="713232"/>
            <a:ext cx="566928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709160" y="7132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49240" y="7406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Components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32320" y="74066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pip-audit + auto-remediation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76488" y="74066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1161288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4709160" y="1161288"/>
            <a:ext cx="566928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4709160" y="116128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A07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34924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 Failures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132320" y="118872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Lockout, session rotation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76488" y="1188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709160" y="1609344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4" name="Shape 62"/>
          <p:cNvSpPr/>
          <p:nvPr/>
        </p:nvSpPr>
        <p:spPr>
          <a:xfrm>
            <a:off x="4709160" y="1609344"/>
            <a:ext cx="566928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4709160" y="160934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A08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349240" y="1636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Integrity Failures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132320" y="1636776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gitleaks, secret scanning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476488" y="163677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709160" y="2057400"/>
            <a:ext cx="4114800" cy="402336"/>
          </a:xfrm>
          <a:prstGeom prst="rect">
            <a:avLst/>
          </a:prstGeom>
          <a:solidFill>
            <a:srgbClr val="0C1520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Shape 68"/>
          <p:cNvSpPr/>
          <p:nvPr/>
        </p:nvSpPr>
        <p:spPr>
          <a:xfrm>
            <a:off x="4709160" y="2057400"/>
            <a:ext cx="566928" cy="40233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1" name="Text 69"/>
          <p:cNvSpPr/>
          <p:nvPr/>
        </p:nvSpPr>
        <p:spPr>
          <a:xfrm>
            <a:off x="4709160" y="20574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A09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349240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 Gaps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132320" y="2084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Audit trail, live event feed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476488" y="208483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709160" y="2505456"/>
            <a:ext cx="4114800" cy="402336"/>
          </a:xfrm>
          <a:prstGeom prst="rect">
            <a:avLst/>
          </a:prstGeom>
          <a:solidFill>
            <a:srgbClr val="0E1627"/>
          </a:solidFill>
          <a:ln w="6350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6" name="Shape 74"/>
          <p:cNvSpPr/>
          <p:nvPr/>
        </p:nvSpPr>
        <p:spPr>
          <a:xfrm>
            <a:off x="4709160" y="2505456"/>
            <a:ext cx="566928" cy="40233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Text 75"/>
          <p:cNvSpPr/>
          <p:nvPr/>
        </p:nvSpPr>
        <p:spPr>
          <a:xfrm>
            <a:off x="4709160" y="250545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A10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349240" y="2532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Forgery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132320" y="253288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No outbound requests made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476488" y="253288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359152" y="4828032"/>
            <a:ext cx="4572000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2" name="Shape 80"/>
          <p:cNvSpPr/>
          <p:nvPr/>
        </p:nvSpPr>
        <p:spPr>
          <a:xfrm>
            <a:off x="2286000" y="4754880"/>
            <a:ext cx="4572000" cy="310896"/>
          </a:xfrm>
          <a:prstGeom prst="rect">
            <a:avLst/>
          </a:prstGeom>
          <a:solidFill>
            <a:srgbClr val="111D34"/>
          </a:solidFill>
          <a:ln w="12700">
            <a:solidFill>
              <a:srgbClr val="008844"/>
            </a:solidFill>
            <a:prstDash val="solid"/>
          </a:ln>
          <a:effectLst>
            <a:outerShdw blurRad="254000" dist="50800" dir="16200000" algn="bl" rotWithShape="0">
              <a:srgbClr val="00FF88">
                <a:alpha val="4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3" name="Text 81"/>
          <p:cNvSpPr/>
          <p:nvPr/>
        </p:nvSpPr>
        <p:spPr>
          <a:xfrm>
            <a:off x="2286000" y="4754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  OWASP TOP 10 VULNERABILITIES — DEMONSTRATED + MITIGATED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"/>
            <a:ext cx="3657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93192" y="841248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320040" y="768096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20040" y="768096"/>
            <a:ext cx="4160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5720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896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SECURE_MODE toggle?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1389888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endpoints intentionally included for education — guarded by server-side env flag. Default is SECURE_MODE=true (safe). Set false for demos only. Security is configurable, not removed.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36592" y="841248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4663440" y="768096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4663440" y="768096"/>
            <a:ext cx="4160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80060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57800" y="896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frontend framework?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1389888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JS dependencies = zero npm supply-chain risk. Entire SPA is vanilla JS in one &lt;script nonce='...'&gt; block. This makes the CSP policy trivially correct and auditable.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" y="2724912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320040" y="2651760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320040" y="2651760"/>
            <a:ext cx="4160520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5720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4400" y="2779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scrypt over bcrypt?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327355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3.x defaults to scrypt — memory-hard, resists GPU-based attacks better than bcrypt. Algorithm upgrades are transparent via werkzeug's API. No migration needed.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36592" y="2724912"/>
            <a:ext cx="416052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4663440" y="2651760"/>
            <a:ext cx="4160520" cy="1783080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4663440" y="2651760"/>
            <a:ext cx="416052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480060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257800" y="2779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SQLite?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46320" y="327355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for demonstration. All parameterised query patterns are identical to PostgreSQL and MySQL. The security lesson is database-agnostic and the patterns transfer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GUIDE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457200" y="612648"/>
            <a:ext cx="32004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393192" y="804672"/>
            <a:ext cx="85039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Shape 49"/>
          <p:cNvSpPr/>
          <p:nvPr/>
        </p:nvSpPr>
        <p:spPr>
          <a:xfrm>
            <a:off x="320040" y="731520"/>
            <a:ext cx="8503920" cy="457200"/>
          </a:xfrm>
          <a:prstGeom prst="rect">
            <a:avLst/>
          </a:prstGeom>
          <a:solidFill>
            <a:srgbClr val="060E1A"/>
          </a:solidFill>
          <a:ln w="12700">
            <a:solidFill>
              <a:srgbClr val="0A3050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502920" y="7772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set SECURE_MODE=false &amp;&amp; python run.py     -&gt;     http://localhost:5000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93192" y="1353312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>
            <a:off x="320040" y="1280160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402336" y="1463040"/>
            <a:ext cx="310896" cy="310896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402336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4672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SQL Injection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04672" y="1618488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Attack:  ' OR '1'='1  -&gt;  all rows returned (f-string SQL, no escaping)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4672" y="1773936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Defend:  Same payload, zero results — parameterised query db.execute(sql, (q,)) blocks it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93192" y="2103120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>
            <a:off x="320040" y="2029968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2" name="Shape 60"/>
          <p:cNvSpPr/>
          <p:nvPr/>
        </p:nvSpPr>
        <p:spPr>
          <a:xfrm>
            <a:off x="402336" y="2212848"/>
            <a:ext cx="310896" cy="310896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3" name="Text 61"/>
          <p:cNvSpPr/>
          <p:nvPr/>
        </p:nvSpPr>
        <p:spPr>
          <a:xfrm>
            <a:off x="402336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4672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XSS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04672" y="2368296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Attack:  &lt;script&gt;alert('XSS')&lt;/script&gt;  -&gt;  raw HTML reflected in response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04672" y="2523744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Defend:  Tags stripped by bleach, entities escaped by html.escape(), CSP blocks execution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93192" y="2852928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Shape 66"/>
          <p:cNvSpPr/>
          <p:nvPr/>
        </p:nvSpPr>
        <p:spPr>
          <a:xfrm>
            <a:off x="320040" y="2779776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9" name="Shape 67"/>
          <p:cNvSpPr/>
          <p:nvPr/>
        </p:nvSpPr>
        <p:spPr>
          <a:xfrm>
            <a:off x="402336" y="2962656"/>
            <a:ext cx="310896" cy="31089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40233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04672" y="2843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Password Hashing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04672" y="3118104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Enter same password twice  -&gt;  completely different scrypt hashes each time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04672" y="3273552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Both verify as true — random salt per hash defeats rainbow tables completely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93192" y="3602736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5" name="Shape 73"/>
          <p:cNvSpPr/>
          <p:nvPr/>
        </p:nvSpPr>
        <p:spPr>
          <a:xfrm>
            <a:off x="320040" y="3529584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6" name="Shape 74"/>
          <p:cNvSpPr/>
          <p:nvPr/>
        </p:nvSpPr>
        <p:spPr>
          <a:xfrm>
            <a:off x="402336" y="3712464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Text 75"/>
          <p:cNvSpPr/>
          <p:nvPr/>
        </p:nvSpPr>
        <p:spPr>
          <a:xfrm>
            <a:off x="402336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04672" y="3593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Rate Limiting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04672" y="3867912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Rapid-fire requests  -&gt;  HTTP 200 responses flip to HTTP 429 Too Many Requests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04672" y="4023360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Live counter shows exactly when limit trips — Flask-Limiter per-IP enforcement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93192" y="4352544"/>
            <a:ext cx="8503920" cy="667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2" name="Shape 80"/>
          <p:cNvSpPr/>
          <p:nvPr/>
        </p:nvSpPr>
        <p:spPr>
          <a:xfrm>
            <a:off x="320040" y="4279392"/>
            <a:ext cx="8503920" cy="667512"/>
          </a:xfrm>
          <a:prstGeom prst="rect">
            <a:avLst/>
          </a:prstGeom>
          <a:solidFill>
            <a:srgbClr val="0E1627"/>
          </a:solidFill>
          <a:ln w="12700">
            <a:solidFill>
              <a:srgbClr val="1C3054"/>
            </a:solidFill>
            <a:prstDash val="solid"/>
          </a:ln>
          <a:effectLst>
            <a:outerShdw blurRad="1270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3" name="Shape 81"/>
          <p:cNvSpPr/>
          <p:nvPr/>
        </p:nvSpPr>
        <p:spPr>
          <a:xfrm>
            <a:off x="402336" y="4462272"/>
            <a:ext cx="310896" cy="3108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4" name="Text 82"/>
          <p:cNvSpPr/>
          <p:nvPr/>
        </p:nvSpPr>
        <p:spPr>
          <a:xfrm>
            <a:off x="402336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04672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04672" y="4617720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Every action logged: SQL queries, XSS attempts, login failures, API calls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04672" y="4773168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Visible in live events feed with IP, user, timestamp, success/fail — auto-refreshes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9525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896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896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96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896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896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896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2039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039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2039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039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2039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2039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3182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3182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182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182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3182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3182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4325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4325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4325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325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325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4325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5468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5468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5468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5468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5468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5468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6611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6611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6611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6611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6611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6611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Shape 49"/>
          <p:cNvSpPr/>
          <p:nvPr/>
        </p:nvSpPr>
        <p:spPr>
          <a:xfrm>
            <a:off x="7754112" y="4846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7754112" y="126187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7754112" y="203911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>
            <a:off x="7754112" y="281635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7754112" y="359359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Shape 54"/>
          <p:cNvSpPr/>
          <p:nvPr/>
        </p:nvSpPr>
        <p:spPr>
          <a:xfrm>
            <a:off x="7754112" y="4370832"/>
            <a:ext cx="36576" cy="36576"/>
          </a:xfrm>
          <a:prstGeom prst="ellipse">
            <a:avLst/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Shape 55"/>
          <p:cNvSpPr/>
          <p:nvPr/>
        </p:nvSpPr>
        <p:spPr>
          <a:xfrm>
            <a:off x="109728" y="109728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109728" y="109728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Shape 57"/>
          <p:cNvSpPr/>
          <p:nvPr/>
        </p:nvSpPr>
        <p:spPr>
          <a:xfrm>
            <a:off x="8668512" y="5033772"/>
            <a:ext cx="3657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9034272" y="4668012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>
            <a:off x="1371600" y="411480"/>
            <a:ext cx="6400800" cy="3200400"/>
          </a:xfrm>
          <a:prstGeom prst="ellipse">
            <a:avLst/>
          </a:prstGeom>
          <a:solidFill>
            <a:srgbClr val="00162A">
              <a:alpha val="80000"/>
            </a:srgbClr>
          </a:solidFill>
          <a:ln w="12700">
            <a:solidFill>
              <a:srgbClr val="0016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45720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"Security is not a feature you bolt on at the end —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457200" y="6675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architectural concern threaded through every layer."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576072" y="1307592"/>
            <a:ext cx="265176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Shape 63"/>
          <p:cNvSpPr/>
          <p:nvPr/>
        </p:nvSpPr>
        <p:spPr>
          <a:xfrm>
            <a:off x="502920" y="1234440"/>
            <a:ext cx="2651760" cy="187452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254000" dist="50800" dir="16200000" algn="bl" rotWithShape="0">
              <a:srgbClr val="00D4FF">
                <a:alpha val="4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6" name="Shape 64"/>
          <p:cNvSpPr/>
          <p:nvPr/>
        </p:nvSpPr>
        <p:spPr>
          <a:xfrm>
            <a:off x="502920" y="1234440"/>
            <a:ext cx="2651760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7" name="Text 65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🏗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1188720" y="1399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7512" y="1883664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SECURE_MODE toggle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schema design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547872" y="1307592"/>
            <a:ext cx="265176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1" name="Shape 69"/>
          <p:cNvSpPr/>
          <p:nvPr/>
        </p:nvSpPr>
        <p:spPr>
          <a:xfrm>
            <a:off x="3474720" y="1234440"/>
            <a:ext cx="2651760" cy="187452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254000" dist="50800" dir="16200000" algn="bl" rotWithShape="0">
              <a:srgbClr val="00FF88">
                <a:alpha val="4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2" name="Shape 70"/>
          <p:cNvSpPr/>
          <p:nvPr/>
        </p:nvSpPr>
        <p:spPr>
          <a:xfrm>
            <a:off x="3474720" y="1234440"/>
            <a:ext cx="2651760" cy="8229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3" name="Text 71"/>
          <p:cNvSpPr/>
          <p:nvPr/>
        </p:nvSpPr>
        <p:spPr>
          <a:xfrm>
            <a:off x="3611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4160520" y="1399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Test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639312" y="1883664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 pattern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pytest suite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519672" y="1307592"/>
            <a:ext cx="265176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Shape 75"/>
          <p:cNvSpPr/>
          <p:nvPr/>
        </p:nvSpPr>
        <p:spPr>
          <a:xfrm>
            <a:off x="6446520" y="1234440"/>
            <a:ext cx="2651760" cy="1874520"/>
          </a:xfrm>
          <a:prstGeom prst="rect">
            <a:avLst/>
          </a:prstGeom>
          <a:solidFill>
            <a:srgbClr val="111D34"/>
          </a:solidFill>
          <a:ln w="12700">
            <a:solidFill>
              <a:srgbClr val="1C3054"/>
            </a:solidFill>
            <a:prstDash val="solid"/>
          </a:ln>
          <a:effectLst>
            <a:outerShdw blurRad="254000" dist="50800" dir="16200000" algn="bl" rotWithShape="0">
              <a:srgbClr val="FF9500">
                <a:alpha val="4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8" name="Shape 76"/>
          <p:cNvSpPr/>
          <p:nvPr/>
        </p:nvSpPr>
        <p:spPr>
          <a:xfrm>
            <a:off x="6446520" y="1234440"/>
            <a:ext cx="2651760" cy="8229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9" name="Text 77"/>
          <p:cNvSpPr/>
          <p:nvPr/>
        </p:nvSpPr>
        <p:spPr>
          <a:xfrm>
            <a:off x="65836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80" name="Text 78"/>
          <p:cNvSpPr/>
          <p:nvPr/>
        </p:nvSpPr>
        <p:spPr>
          <a:xfrm>
            <a:off x="7132320" y="1399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Phase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6611112" y="1883664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SCA · DAST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0292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83" name="Text 81"/>
          <p:cNvSpPr/>
          <p:nvPr/>
        </p:nvSpPr>
        <p:spPr>
          <a:xfrm>
            <a:off x="50292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Labs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60604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10/10</a:t>
            </a:r>
            <a:endParaRPr lang="en-US" sz="3000" dirty="0"/>
          </a:p>
        </p:txBody>
      </p:sp>
      <p:sp>
        <p:nvSpPr>
          <p:cNvPr id="85" name="Text 83"/>
          <p:cNvSpPr/>
          <p:nvPr/>
        </p:nvSpPr>
        <p:spPr>
          <a:xfrm>
            <a:off x="260604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Coverage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70916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87" name="Text 85"/>
          <p:cNvSpPr/>
          <p:nvPr/>
        </p:nvSpPr>
        <p:spPr>
          <a:xfrm>
            <a:off x="470916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812280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89" name="Text 87"/>
          <p:cNvSpPr/>
          <p:nvPr/>
        </p:nvSpPr>
        <p:spPr>
          <a:xfrm>
            <a:off x="6812280" y="3822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9525">
            <a:solidFill>
              <a:srgbClr val="1C305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1" name="Text 89"/>
          <p:cNvSpPr/>
          <p:nvPr/>
        </p:nvSpPr>
        <p:spPr>
          <a:xfrm>
            <a:off x="457200" y="42062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AUI Secure  ·  Secure Software Design with Secure Coding Implementation  ·  2026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57200" y="4480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github.com/your-username/CdPipeline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1422</Words>
  <Application>Microsoft Office PowerPoint</Application>
  <PresentationFormat>On-screen Show (16:9)</PresentationFormat>
  <Paragraphs>330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AUI Secure — Secure Coding Demonstration Platform</dc:title>
  <dc:subject>PptxGenJS Presentation</dc:subject>
  <dc:creator>PptxGenJS</dc:creator>
  <cp:lastModifiedBy>u2023352</cp:lastModifiedBy>
  <cp:revision>2</cp:revision>
  <dcterms:created xsi:type="dcterms:W3CDTF">2026-05-06T23:13:15Z</dcterms:created>
  <dcterms:modified xsi:type="dcterms:W3CDTF">2026-05-06T23:29:57Z</dcterms:modified>
</cp:coreProperties>
</file>