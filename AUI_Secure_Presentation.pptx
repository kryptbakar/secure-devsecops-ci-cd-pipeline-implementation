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777240"/>
            <a:ext cx="4572000" cy="2926080"/>
          </a:xfrm>
          <a:prstGeom prst="ellipse">
            <a:avLst/>
          </a:prstGeom>
          <a:solidFill>
            <a:srgbClr val="00204A">
              <a:alpha val="60000"/>
            </a:srgbClr>
          </a:solidFill>
          <a:ln w="12700">
            <a:solidFill>
              <a:srgbClr val="0020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SOFTWARE DESIGN WITH SECURE CODING IMPLEMENTATION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57200" y="621792"/>
            <a:ext cx="8229600" cy="123444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00D4FF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AUI SECURE</a:t>
            </a:r>
            <a:endParaRPr lang="en-US" sz="7200" dirty="0"/>
          </a:p>
        </p:txBody>
      </p:sp>
      <p:sp>
        <p:nvSpPr>
          <p:cNvPr id="64" name="Text 62"/>
          <p:cNvSpPr/>
          <p:nvPr/>
        </p:nvSpPr>
        <p:spPr>
          <a:xfrm>
            <a:off x="457200" y="19019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DevSecOps Security Education Platform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4160520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61688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62856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64024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65192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1732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3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4173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Live Labs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70332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50800" dir="16200000">
              <a:srgbClr val="00FF88">
                <a:alpha val="3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37033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98932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27000" dist="50800" dir="16200000">
              <a:srgbClr val="FF9500">
                <a:alpha val="3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9893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CI/CD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Flask · SQLite · GitHub Actions · OWASP ZAP · Bandit · gitleaks · pip-audit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832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3657600" cy="0"/>
          </a:xfrm>
          <a:prstGeom prst="line">
            <a:avLst/>
          </a:prstGeom>
          <a:noFill/>
          <a:ln w="25400">
            <a:solidFill>
              <a:srgbClr val="FF47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987552"/>
            <a:ext cx="40233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914400"/>
            <a:ext cx="4023360" cy="3657600"/>
          </a:xfrm>
          <a:prstGeom prst="rect">
            <a:avLst/>
          </a:prstGeom>
          <a:solidFill>
            <a:srgbClr val="0E1627"/>
          </a:solidFill>
          <a:ln w="12700">
            <a:solidFill>
              <a:srgbClr val="3A152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914400"/>
            <a:ext cx="64008" cy="3657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broken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" y="148132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14447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bolted on AFTER development — too late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" y="207568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20391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vulnerabilities still widespread in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267004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26334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don't understand attacks they've never seen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" y="326440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32278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slides don't build real security intuition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" y="385876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" y="3822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rarely include automated security checks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73752" y="987552"/>
            <a:ext cx="40233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914400"/>
            <a:ext cx="4023360" cy="3657600"/>
          </a:xfrm>
          <a:prstGeom prst="rect">
            <a:avLst/>
          </a:prstGeom>
          <a:solidFill>
            <a:srgbClr val="111D34"/>
          </a:solidFill>
          <a:ln w="12700">
            <a:solidFill>
              <a:srgbClr val="005577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4FF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914400"/>
            <a:ext cx="64008" cy="3657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983480" y="1371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AUI Secure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4983480" y="1956816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30952" y="1920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 real-time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83480" y="2487168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30952" y="2450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with live code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83480" y="301752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30952" y="298094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hands-on security labs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983480" y="3547872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30952" y="3511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OWASP Top 10 coverage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83480" y="4078224"/>
            <a:ext cx="256032" cy="256032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30952" y="4041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5-stage CI/CD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AUI SECURE?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34747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8046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dual-layer DevSecOps project: a fully-functional secure web application paired with an automated security CI/CD pipeline.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" y="1627632"/>
            <a:ext cx="493776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554480"/>
            <a:ext cx="4937760" cy="100584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1554480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8 Interactive Security Labs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1938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Password Hashing, CSRF, Rate Limiting, Account Lockout, Security Headers, Audit Trail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" y="2743200"/>
            <a:ext cx="493776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670048"/>
            <a:ext cx="4937760" cy="100584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670048"/>
            <a:ext cx="64008" cy="10058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 &amp; Defend Side-by-Side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0540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has a vulnerable endpoint AND a secure endpoint — see exactly what changes and why it matters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" y="3858768"/>
            <a:ext cx="493776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785616"/>
            <a:ext cx="4937760" cy="100584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785616"/>
            <a:ext cx="64008" cy="10058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58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Dark Security Dashboard SPA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96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JS dependencies, vanilla JS, single CSP nonce-script block, zero npm supply-chain risk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50992" y="859536"/>
            <a:ext cx="3246120" cy="37856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786384"/>
            <a:ext cx="3246120" cy="3785616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15000" y="896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87568" y="1298448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24728" y="1280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+ Flask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24728" y="1453896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+ routing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87568" y="1700784"/>
            <a:ext cx="54864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24728" y="16824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24728" y="185623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87568" y="2103120"/>
            <a:ext cx="54864" cy="2286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24728" y="2084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scrypt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24728" y="22585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password hashing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87568" y="2505456"/>
            <a:ext cx="54864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24728" y="2487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824728" y="2660904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middleware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87568" y="2907792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24728" y="2889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24728" y="306324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CI/CD pipeline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87568" y="3310128"/>
            <a:ext cx="54864" cy="228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24728" y="3291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824728" y="3465576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scanning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87568" y="3712464"/>
            <a:ext cx="54864" cy="2286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24728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+ gitleaks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24728" y="386791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secret scanning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87568" y="4114800"/>
            <a:ext cx="54864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24728" y="4096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824728" y="427024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 auto-remediation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41148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16200000">
            <a:off x="109728" y="768096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LAYER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58568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85416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58568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68496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968496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78424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05272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78424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@requires_role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88352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88352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log_action()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open"/>
          </a:ln>
        </p:spPr>
      </p:sp>
      <p:sp>
        <p:nvSpPr>
          <p:cNvPr id="38" name="Shape 36"/>
          <p:cNvSpPr/>
          <p:nvPr/>
        </p:nvSpPr>
        <p:spPr>
          <a:xfrm>
            <a:off x="2505456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open"/>
          </a:ln>
        </p:spPr>
      </p:sp>
      <p:sp>
        <p:nvSpPr>
          <p:cNvPr id="39" name="Shape 37"/>
          <p:cNvSpPr/>
          <p:nvPr/>
        </p:nvSpPr>
        <p:spPr>
          <a:xfrm>
            <a:off x="4215384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open"/>
          </a:ln>
        </p:spPr>
      </p:sp>
      <p:sp>
        <p:nvSpPr>
          <p:cNvPr id="40" name="Shape 38"/>
          <p:cNvSpPr/>
          <p:nvPr/>
        </p:nvSpPr>
        <p:spPr>
          <a:xfrm>
            <a:off x="5925312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open"/>
          </a:ln>
        </p:spPr>
      </p:sp>
      <p:sp>
        <p:nvSpPr>
          <p:cNvPr id="41" name="Shape 39"/>
          <p:cNvSpPr/>
          <p:nvPr/>
        </p:nvSpPr>
        <p:spPr>
          <a:xfrm>
            <a:off x="7635240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open"/>
          </a:ln>
        </p:spPr>
      </p:sp>
      <p:sp>
        <p:nvSpPr>
          <p:cNvPr id="42" name="Text 40"/>
          <p:cNvSpPr/>
          <p:nvPr/>
        </p:nvSpPr>
        <p:spPr>
          <a:xfrm rot="16200000">
            <a:off x="109728" y="1901952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LAYER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48640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58568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85416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258568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968496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95344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968496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labs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78424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05272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678424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CRUD+SQLi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88352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0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88352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5528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open"/>
          </a:ln>
        </p:spPr>
      </p:sp>
      <p:sp>
        <p:nvSpPr>
          <p:cNvPr id="59" name="Shape 57"/>
          <p:cNvSpPr/>
          <p:nvPr/>
        </p:nvSpPr>
        <p:spPr>
          <a:xfrm>
            <a:off x="2505456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open"/>
          </a:ln>
        </p:spPr>
      </p:sp>
      <p:sp>
        <p:nvSpPr>
          <p:cNvPr id="60" name="Shape 58"/>
          <p:cNvSpPr/>
          <p:nvPr/>
        </p:nvSpPr>
        <p:spPr>
          <a:xfrm>
            <a:off x="4215384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open"/>
          </a:ln>
        </p:spPr>
      </p:sp>
      <p:sp>
        <p:nvSpPr>
          <p:cNvPr id="61" name="Shape 59"/>
          <p:cNvSpPr/>
          <p:nvPr/>
        </p:nvSpPr>
        <p:spPr>
          <a:xfrm>
            <a:off x="5925312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open"/>
          </a:ln>
        </p:spPr>
      </p:sp>
      <p:sp>
        <p:nvSpPr>
          <p:cNvPr id="62" name="Shape 60"/>
          <p:cNvSpPr/>
          <p:nvPr/>
        </p:nvSpPr>
        <p:spPr>
          <a:xfrm>
            <a:off x="7635240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open"/>
          </a:ln>
        </p:spPr>
      </p:sp>
      <p:sp>
        <p:nvSpPr>
          <p:cNvPr id="63" name="Text 61"/>
          <p:cNvSpPr/>
          <p:nvPr/>
        </p:nvSpPr>
        <p:spPr>
          <a:xfrm rot="16200000">
            <a:off x="109728" y="3072384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LAYER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48640" y="3163824"/>
            <a:ext cx="20116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" y="3090672"/>
            <a:ext cx="201168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66928" y="31089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16352" y="3163824"/>
            <a:ext cx="20116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0" y="3090672"/>
            <a:ext cx="201168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834640" y="31089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84064" y="3163824"/>
            <a:ext cx="20116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10912" y="3090672"/>
            <a:ext cx="201168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102352" y="31089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351776" y="3163824"/>
            <a:ext cx="196596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78624" y="3090672"/>
            <a:ext cx="196596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370064" y="3108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+bleach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0A002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087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PIPELINE  -&gt;  pytest  -&gt;  gitleaks  -&gt;  Bandit SAST  -&gt;  pip-audit SCA  -&gt;  OWASP ZAP DAST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SECURITY LABS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coverage — attack and defend in real-time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93192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" y="896112"/>
            <a:ext cx="199339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14400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48056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' OR 1=1 --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queries vs f-string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SQL generated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14600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41448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441448" y="896112"/>
            <a:ext cx="199339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51176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3035808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569464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&lt;script&gt;alert()&lt;/script&gt;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 + html.escape()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 allowlist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36008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62856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62856" y="896112"/>
            <a:ext cx="1993392" cy="7315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72584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5157216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690872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salted hashes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 hash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meter live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757416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84264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684264" y="896112"/>
            <a:ext cx="1993392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93992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278624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812280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HTTP headers shown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HSTS, X-Frame-Options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ratings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93192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20040" y="2715768"/>
            <a:ext cx="1993392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9768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914400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48056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form 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cookies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Timing-safe token compare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514600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41448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2441448" y="2715768"/>
            <a:ext cx="199339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551176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4" name="Text 82"/>
          <p:cNvSpPr/>
          <p:nvPr/>
        </p:nvSpPr>
        <p:spPr>
          <a:xfrm>
            <a:off x="3035808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2569464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 the endpoint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200 -&gt; 429 responses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counter on screen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636008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62856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562856" y="2715768"/>
            <a:ext cx="1993392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72584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5157216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4690872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24h lockout shown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757416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84264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684264" y="2715768"/>
            <a:ext cx="1993392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93992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6" name="Text 94"/>
          <p:cNvSpPr/>
          <p:nvPr/>
        </p:nvSpPr>
        <p:spPr>
          <a:xfrm>
            <a:off x="7278624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6812280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user, timestamp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live feed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MECHANISMS DEEP DIVE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5029200" cy="0"/>
          </a:xfrm>
          <a:prstGeom prst="line">
            <a:avLst/>
          </a:prstGeom>
          <a:noFill/>
          <a:ln w="2540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841248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768096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768096"/>
            <a:ext cx="64008" cy="14813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859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12618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12252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scrypt — memory-hard hashing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149961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14630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rotation on every login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170078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SameSite=Lax cookies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197510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19385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session lifetime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37560" y="841248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768096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64408" y="768096"/>
            <a:ext cx="64008" cy="148132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859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47288" y="1261872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12252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@requires_auth decorator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47288" y="1499616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14630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@requires_role('admin') decorator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47288" y="1737360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170078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role system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47288" y="1975104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11880" y="19385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Bearer token auth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81928" y="841248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08776" y="768096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08776" y="768096"/>
            <a:ext cx="64008" cy="148132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859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91656" y="1261872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6248" y="12252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base x 2^n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91656" y="1499616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14630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lockout duration: 24 hours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91656" y="173736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56248" y="170078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delay up to 5s/attempt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91656" y="1975104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56248" y="19385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state stored in DB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93192" y="2468880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2395728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0040" y="2395728"/>
            <a:ext cx="64008" cy="148132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" y="2889504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7512" y="28529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regex policy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2920" y="3127248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" y="30906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 HTML tag stripping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3364992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" y="33284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html.escape() entity encoding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920" y="3602736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7512" y="35661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Null-byte removal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337560" y="2468880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64408" y="2395728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64408" y="2395728"/>
            <a:ext cx="64008" cy="148132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29000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447288" y="2889504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11880" y="28529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everywhere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447288" y="3127248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11880" y="30906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db.execute(sql, (param,)) pattern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447288" y="3364992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11880" y="33284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endpoints for live comparison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447288" y="3602736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11880" y="35661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f-string SQL anywhere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81928" y="2468880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08776" y="2395728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208776" y="2395728"/>
            <a:ext cx="64008" cy="148132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73368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Defence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391656" y="2889504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56248" y="28529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 strips all HTML tags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391656" y="3127248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56248" y="30906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html.escape() encodes all entities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91656" y="3364992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56248" y="33284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nonce-based script allowlist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391656" y="3602736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56248" y="35661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inline event handlers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SECURITY PIPELINE — 5-STAGE GAUNTLET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push triggers automated security checks — zero manual intervention required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2064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38912" y="960120"/>
            <a:ext cx="1572768" cy="2926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0352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0352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20824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open"/>
          </a:ln>
        </p:spPr>
      </p:sp>
      <p:sp>
        <p:nvSpPr>
          <p:cNvPr id="59" name="Shape 57"/>
          <p:cNvSpPr/>
          <p:nvPr/>
        </p:nvSpPr>
        <p:spPr>
          <a:xfrm>
            <a:off x="2185416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12264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112264" y="960120"/>
            <a:ext cx="1572768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12264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203704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240280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40280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gitleaks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203704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hardcoded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94176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open"/>
          </a:ln>
        </p:spPr>
      </p:sp>
      <p:sp>
        <p:nvSpPr>
          <p:cNvPr id="68" name="Shape 66"/>
          <p:cNvSpPr/>
          <p:nvPr/>
        </p:nvSpPr>
        <p:spPr>
          <a:xfrm>
            <a:off x="3858768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85616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785616" y="960120"/>
            <a:ext cx="1572768" cy="2926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85616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3877056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3913632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13632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77056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367528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open"/>
          </a:ln>
        </p:spPr>
      </p:sp>
      <p:sp>
        <p:nvSpPr>
          <p:cNvPr id="77" name="Shape 75"/>
          <p:cNvSpPr/>
          <p:nvPr/>
        </p:nvSpPr>
        <p:spPr>
          <a:xfrm>
            <a:off x="5532120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58968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458968" y="960120"/>
            <a:ext cx="1572768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58968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550408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586984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86984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pip-audit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remediate.py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550408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deps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040880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open"/>
          </a:ln>
        </p:spPr>
      </p:sp>
      <p:sp>
        <p:nvSpPr>
          <p:cNvPr id="86" name="Shape 84"/>
          <p:cNvSpPr/>
          <p:nvPr/>
        </p:nvSpPr>
        <p:spPr>
          <a:xfrm>
            <a:off x="7205472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32320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132320" y="960120"/>
            <a:ext cx="157276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32320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223760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7260336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60336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ZAP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223760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scan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719072" y="3621024"/>
            <a:ext cx="5852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645920" y="3547872"/>
            <a:ext cx="5852160" cy="640080"/>
          </a:xfrm>
          <a:prstGeom prst="rect">
            <a:avLst/>
          </a:prstGeom>
          <a:solidFill>
            <a:srgbClr val="0A0020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254000" dist="50800" dir="16200000">
              <a:srgbClr val="9B59B6">
                <a:alpha val="4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1828800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AUTO-REMEDIATION: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114800" y="3602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finds vuln deps  -&gt;  remediate.py patches requirements.txt  -&gt;  opens GitHub PR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PRE-COMMIT HOOKS — SHIFT LEFT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4572000" cy="0"/>
          </a:xfrm>
          <a:prstGeom prst="line">
            <a:avLst/>
          </a:prstGeom>
          <a:noFill/>
          <a:ln w="254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checks as CI/CD — caught at the developer's workstation before anything reaches 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" y="1060704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987552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987552"/>
            <a:ext cx="64008" cy="6766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124712"/>
            <a:ext cx="1078992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112471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Formatting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131673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code style. Fails the commit if formatting is off — fixes applied automatically.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" y="1828800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755648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1755648"/>
            <a:ext cx="64008" cy="6766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1892808"/>
            <a:ext cx="1078992" cy="3474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18928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91640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91640" y="208483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security analysis. Flags dangerous patterns: shell injection, hardcoded secrets, insecure hash algorithms.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" y="2596896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523744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523744"/>
            <a:ext cx="64008" cy="67665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2660904"/>
            <a:ext cx="1078992" cy="3474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66090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pip-audit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91640" y="2596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91640" y="285292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dependencies against NVD CVE database. Blocks commits with known-vulnerable packages.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3192" y="3364992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291840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3291840"/>
            <a:ext cx="64008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429000"/>
            <a:ext cx="1078992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gitleaks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691640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Detection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91640" y="3621024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git history and staged changes for API keys, tokens, passwords. Blocks before they leave the machine.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3192" y="4133088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059936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" y="4059936"/>
            <a:ext cx="64008" cy="67665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4197096"/>
            <a:ext cx="1078992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19709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hygiene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691640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Hygiene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91640" y="43891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YAML/JSON validity, merge conflict markers, private key file detection, large binary files.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 -&gt;  black ok  -&gt;  bandit ok  -&gt;  pip-audit ok  -&gt;  gitleaks ok  -&gt;  All checks passed.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TOP 10 COVERAGE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4114800" cy="0"/>
          </a:xfrm>
          <a:prstGeom prst="line">
            <a:avLst/>
          </a:prstGeom>
          <a:noFill/>
          <a:ln w="25400">
            <a:solidFill>
              <a:srgbClr val="FF47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713232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713232"/>
            <a:ext cx="566928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7132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7406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0" y="74066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RBAC + @requires_role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87368" y="74066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1161288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1161288"/>
            <a:ext cx="566928" cy="40233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1612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118872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scrypt, HttpOnly cookies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87368" y="1188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1609344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1609344"/>
            <a:ext cx="566928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16093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0120" y="1636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 Injection)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0" y="1636776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Parameterised queries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87368" y="163677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2057400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057400"/>
            <a:ext cx="566928" cy="40233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0574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0120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0" y="2084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SECURE_MODE gating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87368" y="20848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505456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2505456"/>
            <a:ext cx="566928" cy="40233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50545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" y="2532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0" y="253288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Security headers, CSP nonce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87368" y="253288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713232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713232"/>
            <a:ext cx="566928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7132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49240" y="7406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Components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32320" y="74066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pip-audit + auto-remediation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76488" y="74066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1161288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1161288"/>
            <a:ext cx="566928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11612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A07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4924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 Failures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132320" y="118872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Lockout, session rotation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76488" y="1188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09160" y="1609344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9160" y="1609344"/>
            <a:ext cx="566928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16093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A08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349240" y="1636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Integrity Failures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132320" y="1636776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gitleaks, secret scanning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76488" y="163677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709160" y="2057400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09160" y="2057400"/>
            <a:ext cx="566928" cy="40233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09160" y="20574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A09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349240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Gaps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132320" y="2084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Audit trail, live event feed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476488" y="20848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709160" y="2505456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09160" y="2505456"/>
            <a:ext cx="566928" cy="40233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09160" y="250545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A10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349240" y="2532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132320" y="253288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No outbound requests made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476488" y="253288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359152" y="4828032"/>
            <a:ext cx="4572000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86000" y="4754880"/>
            <a:ext cx="4572000" cy="310896"/>
          </a:xfrm>
          <a:prstGeom prst="rect">
            <a:avLst/>
          </a:prstGeom>
          <a:solidFill>
            <a:srgbClr val="111D34"/>
          </a:solidFill>
          <a:ln w="12700">
            <a:solidFill>
              <a:srgbClr val="008844"/>
            </a:solidFill>
            <a:prstDash val="solid"/>
          </a:ln>
          <a:effectLst>
            <a:outerShdw sx="100000" sy="100000" kx="0" ky="0" algn="bl" rotWithShape="0" blurRad="254000" dist="50800" dir="16200000">
              <a:srgbClr val="00FF88">
                <a:alpha val="45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2286000" y="4754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  OWASP TOP 10 VULNERABILITIES — DEMONSTRATED + MITIGATED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3657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841248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768096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768096"/>
            <a:ext cx="4160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896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SECURE_MODE toggle?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1389888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endpoints intentionally included for education — guarded by server-side env flag. Default is SECURE_MODE=true (safe). Set false for demos only. Security is configurable, not removed.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36592" y="841248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768096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768096"/>
            <a:ext cx="4160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57800" y="896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frontend framework?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1389888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JS dependencies = zero npm supply-chain risk. Entire SPA is vanilla JS in one &lt;script nonce='...'&gt; block. This makes the CSP policy trivially correct and auditable.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" y="2724912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651760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2651760"/>
            <a:ext cx="4160520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4400" y="2779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scrypt over bcrypt?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327355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3.x defaults to scrypt — memory-hard, resists GPU-based attacks better than bcrypt. Algorithm upgrades are transparent via werkzeug's API. No migration needed.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36592" y="2724912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651760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651760"/>
            <a:ext cx="41605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257800" y="2779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SQLite?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46320" y="327355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for demonstration. All parameterised query patterns are identical to PostgreSQL and MySQL. The security lesson is database-agnostic and the patterns transfer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GUIDE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457200" y="612648"/>
            <a:ext cx="32004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3192" y="804672"/>
            <a:ext cx="8503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731520"/>
            <a:ext cx="8503920" cy="457200"/>
          </a:xfrm>
          <a:prstGeom prst="rect">
            <a:avLst/>
          </a:prstGeom>
          <a:solidFill>
            <a:srgbClr val="060E1A"/>
          </a:solidFill>
          <a:ln w="12700">
            <a:solidFill>
              <a:srgbClr val="0A30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02920" y="777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set SECURE_MODE=false &amp;&amp; python run.py     -&gt;     http://localhost:5000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93192" y="1353312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1280160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02336" y="1463040"/>
            <a:ext cx="310896" cy="310896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SQL Injection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4672" y="1618488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Attack:  ' OR '1'='1  -&gt;  all rows returned (f-string SQL, no escaping)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4672" y="177393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Defend:  Same payload, zero results — parameterised query db.execute(sql, (q,)) blocks it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93192" y="2103120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2029968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02336" y="2212848"/>
            <a:ext cx="310896" cy="310896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2336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4672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XSS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04672" y="236829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Attack:  &lt;script&gt;alert('XSS')&lt;/script&gt;  -&gt;  raw HTML reflected in response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04672" y="2523744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Defend:  Tags stripped by bleach, entities escaped by html.escape(), CSP blocks execution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93192" y="2852928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2779776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02336" y="2962656"/>
            <a:ext cx="310896" cy="31089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04672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Password Hashing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04672" y="3118104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Enter same password twice  -&gt;  completely different scrypt hashes each time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04672" y="327355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Both verify as true — random salt per hash defeats rainbow tables completely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3192" y="3602736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3529584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02336" y="3712464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2336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04672" y="3593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Rate Limiting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04672" y="386791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Rapid-fire requests  -&gt;  HTTP 200 responses flip to HTTP 429 Too Many Requests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04672" y="4023360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Live counter shows exactly when limit trips — Flask-Limiter per-IP enforcement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93192" y="4352544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0040" y="4279392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7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02336" y="4462272"/>
            <a:ext cx="310896" cy="3108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2336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04672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04672" y="4617720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Every action logged: SQL queries, XSS attempts, login failures, API calls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04672" y="4773168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Visible in live events feed with IP, user, timestamp, success/fail — auto-refreshes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411480"/>
            <a:ext cx="6400800" cy="3200400"/>
          </a:xfrm>
          <a:prstGeom prst="ellipse">
            <a:avLst/>
          </a:prstGeom>
          <a:solidFill>
            <a:srgbClr val="00162A">
              <a:alpha val="80000"/>
            </a:srgbClr>
          </a:solidFill>
          <a:ln w="12700">
            <a:solidFill>
              <a:srgbClr val="0016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"Security is not a feature you bolt on at the end —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457200" y="6675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architectural concern threaded through every layer."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576072" y="1307592"/>
            <a:ext cx="26517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1234440"/>
            <a:ext cx="2651760" cy="187452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4FF">
                <a:alpha val="4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02920" y="1234440"/>
            <a:ext cx="2651760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1188720" y="1399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7512" y="1883664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SECURE_MODE toggle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schema design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547872" y="1307592"/>
            <a:ext cx="26517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74720" y="1234440"/>
            <a:ext cx="2651760" cy="187452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254000" dist="50800" dir="16200000">
              <a:srgbClr val="00FF88">
                <a:alpha val="4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474720" y="1234440"/>
            <a:ext cx="2651760" cy="8229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11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4160520" y="1399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Test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639312" y="1883664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pytest suite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519672" y="1307592"/>
            <a:ext cx="26517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46520" y="1234440"/>
            <a:ext cx="2651760" cy="187452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sx="100000" sy="100000" kx="0" ky="0" algn="bl" rotWithShape="0" blurRad="254000" dist="50800" dir="16200000">
              <a:srgbClr val="FF9500">
                <a:alpha val="4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446520" y="1234440"/>
            <a:ext cx="2651760" cy="8229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836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80" name="Text 78"/>
          <p:cNvSpPr/>
          <p:nvPr/>
        </p:nvSpPr>
        <p:spPr>
          <a:xfrm>
            <a:off x="7132320" y="1399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Phase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611112" y="1883664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SCA · DAST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0292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83" name="Text 81"/>
          <p:cNvSpPr/>
          <p:nvPr/>
        </p:nvSpPr>
        <p:spPr>
          <a:xfrm>
            <a:off x="50292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Labs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60604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10/10</a:t>
            </a:r>
            <a:endParaRPr lang="en-US" sz="3000" dirty="0"/>
          </a:p>
        </p:txBody>
      </p:sp>
      <p:sp>
        <p:nvSpPr>
          <p:cNvPr id="85" name="Text 83"/>
          <p:cNvSpPr/>
          <p:nvPr/>
        </p:nvSpPr>
        <p:spPr>
          <a:xfrm>
            <a:off x="260604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Coverage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70916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87" name="Text 85"/>
          <p:cNvSpPr/>
          <p:nvPr/>
        </p:nvSpPr>
        <p:spPr>
          <a:xfrm>
            <a:off x="470916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81228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89" name="Text 87"/>
          <p:cNvSpPr/>
          <p:nvPr/>
        </p:nvSpPr>
        <p:spPr>
          <a:xfrm>
            <a:off x="681228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9525">
            <a:solidFill>
              <a:srgbClr val="1C305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42062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AUI Secure  ·  Secure Software Design with Secure Coding Implementation  ·  2026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7200" y="4480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github.com/your-username/CdPipeline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AUI Secure — Secure Coding Demonstration Platform</dc:title>
  <dc:subject>PptxGenJS Presentation</dc:subject>
  <dc:creator>PptxGenJS</dc:creator>
  <cp:lastModifiedBy>PptxGenJS</cp:lastModifiedBy>
  <cp:revision>1</cp:revision>
  <dcterms:created xsi:type="dcterms:W3CDTF">2026-05-06T23:13:15Z</dcterms:created>
  <dcterms:modified xsi:type="dcterms:W3CDTF">2026-05-06T23:13:15Z</dcterms:modified>
</cp:coreProperties>
</file>